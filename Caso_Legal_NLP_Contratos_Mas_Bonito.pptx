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B5AA"/>
                </a:solidFill>
                <a:latin typeface="Aptos"/>
              </a:defRPr>
            </a:pPr>
            <a:r>
              <a:t>NLP EN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400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82238"/>
                </a:solidFill>
                <a:latin typeface="Aptos Display"/>
              </a:defRPr>
            </a:pPr>
            <a:r>
              <a:t>Análisis de</a:t>
            </a:r>
            <a:br/>
            <a:r>
              <a:t>contratos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461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74050"/>
                </a:solidFill>
                <a:latin typeface="Aptos Display"/>
              </a:defRPr>
            </a:pPr>
            <a:r>
              <a:t>Caso práctico: cómo NLP ayuda a revisar contratos de forma más rápida y ordenada.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572000"/>
            <a:ext cx="2468880" cy="512064"/>
          </a:xfrm>
          <a:prstGeom prst="roundRect">
            <a:avLst/>
          </a:prstGeom>
          <a:solidFill>
            <a:srgbClr val="E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7000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0B5AA"/>
                </a:solidFill>
                <a:latin typeface="Aptos"/>
              </a:defRPr>
            </a:pPr>
            <a:r>
              <a:t>CASO ESPECÍFICO · 6 PASOS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28016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1627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257C4"/>
                </a:solidFill>
                <a:latin typeface="Aptos"/>
              </a:defRPr>
            </a:pPr>
            <a:r>
              <a:t>CONTRATO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240280"/>
            <a:ext cx="2240280" cy="73152"/>
          </a:xfrm>
          <a:prstGeom prst="rect">
            <a:avLst/>
          </a:prstGeom>
          <a:solidFill>
            <a:srgbClr val="E0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2679192"/>
            <a:ext cx="2011680" cy="73152"/>
          </a:xfrm>
          <a:prstGeom prst="rect">
            <a:avLst/>
          </a:prstGeom>
          <a:solidFill>
            <a:srgbClr val="E0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3118104"/>
            <a:ext cx="2377440" cy="73152"/>
          </a:xfrm>
          <a:prstGeom prst="rect">
            <a:avLst/>
          </a:prstGeom>
          <a:solidFill>
            <a:srgbClr val="E0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557016"/>
            <a:ext cx="1737360" cy="73152"/>
          </a:xfrm>
          <a:prstGeom prst="rect">
            <a:avLst/>
          </a:prstGeom>
          <a:solidFill>
            <a:srgbClr val="E0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995928"/>
            <a:ext cx="2194560" cy="73152"/>
          </a:xfrm>
          <a:prstGeom prst="rect">
            <a:avLst/>
          </a:prstGeom>
          <a:solidFill>
            <a:srgbClr val="E0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4434840"/>
            <a:ext cx="1828800" cy="73152"/>
          </a:xfrm>
          <a:prstGeom prst="rect">
            <a:avLst/>
          </a:prstGeom>
          <a:solidFill>
            <a:srgbClr val="E0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4983480"/>
            <a:ext cx="2240280" cy="411480"/>
          </a:xfrm>
          <a:prstGeom prst="roundRect">
            <a:avLst/>
          </a:prstGeom>
          <a:solidFill>
            <a:srgbClr val="FDF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5084064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B64E"/>
                </a:solidFill>
                <a:latin typeface="Aptos"/>
              </a:defRPr>
            </a:pPr>
            <a:r>
              <a:t>cláusula relevante</a:t>
            </a:r>
          </a:p>
        </p:txBody>
      </p:sp>
      <p:sp>
        <p:nvSpPr>
          <p:cNvPr id="19" name="Oval 18"/>
          <p:cNvSpPr/>
          <p:nvPr/>
        </p:nvSpPr>
        <p:spPr>
          <a:xfrm>
            <a:off x="10195560" y="4315968"/>
            <a:ext cx="960120" cy="960120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NLP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57C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297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2238"/>
                </a:solidFill>
                <a:latin typeface="Aptos Display"/>
              </a:defRPr>
            </a:pPr>
            <a: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502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7888"/>
                </a:solidFill>
                <a:latin typeface="Aptos"/>
              </a:defRPr>
            </a:pPr>
            <a:r>
              <a:t>01/06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7888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82238"/>
                </a:solidFill>
                <a:latin typeface="Aptos Display"/>
              </a:defRPr>
            </a:pPr>
            <a:r>
              <a:t>Muchas</a:t>
            </a:r>
            <a:br/>
            <a:r>
              <a:t>páginas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246120"/>
            <a:ext cx="2240280" cy="91440"/>
          </a:xfrm>
          <a:prstGeom prst="rect">
            <a:avLst/>
          </a:prstGeom>
          <a:solidFill>
            <a:srgbClr val="E1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257C4"/>
                </a:solidFill>
                <a:latin typeface="Aptos Display"/>
              </a:defRPr>
            </a:pPr>
            <a:r>
              <a:t>Búsqueda</a:t>
            </a:r>
            <a:br/>
            <a:r>
              <a:t>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00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050"/>
                </a:solidFill>
                <a:latin typeface="Aptos Display"/>
              </a:defRPr>
            </a:pPr>
            <a:r>
              <a:t>Tiempo + atención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57276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238"/>
                </a:solidFill>
                <a:latin typeface="Aptos Display"/>
              </a:defRPr>
            </a:pPr>
            <a:r>
              <a:t>Puntos clave</a:t>
            </a:r>
          </a:p>
        </p:txBody>
      </p:sp>
      <p:sp>
        <p:nvSpPr>
          <p:cNvPr id="14" name="Oval 13"/>
          <p:cNvSpPr/>
          <p:nvPr/>
        </p:nvSpPr>
        <p:spPr>
          <a:xfrm>
            <a:off x="4096512" y="23134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2219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Un contrato puede tener muchas páginas y cláusulas.</a:t>
            </a:r>
          </a:p>
        </p:txBody>
      </p:sp>
      <p:sp>
        <p:nvSpPr>
          <p:cNvPr id="16" name="Oval 15"/>
          <p:cNvSpPr/>
          <p:nvPr/>
        </p:nvSpPr>
        <p:spPr>
          <a:xfrm>
            <a:off x="4096512" y="3227832"/>
            <a:ext cx="164592" cy="164592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31363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Revisarlo manualmente requiere tiempo y atención.</a:t>
            </a:r>
          </a:p>
        </p:txBody>
      </p:sp>
      <p:sp>
        <p:nvSpPr>
          <p:cNvPr id="18" name="Oval 17"/>
          <p:cNvSpPr/>
          <p:nvPr/>
        </p:nvSpPr>
        <p:spPr>
          <a:xfrm>
            <a:off x="4096512" y="41422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40507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El objetivo es encontrar rápidamente información importante sin perder el contexto.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806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88"/>
                </a:solidFill>
                <a:latin typeface="Aptos"/>
              </a:defRPr>
            </a:pPr>
            <a:r>
              <a:t>La tecnología apoya la revisión; no sustituye el criterio profesional.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57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297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2238"/>
                </a:solidFill>
                <a:latin typeface="Aptos Display"/>
              </a:defRPr>
            </a:pPr>
            <a:r>
              <a:t>¿CÓMO ENTRA EL NLP?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502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7888"/>
                </a:solidFill>
                <a:latin typeface="Aptos"/>
              </a:defRPr>
            </a:pPr>
            <a:r>
              <a:t>02/06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5AA"/>
                </a:solidFill>
                <a:latin typeface="Aptos"/>
              </a:defRPr>
            </a:pPr>
            <a:r>
              <a:t>PROCESO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2331720"/>
            <a:ext cx="1783080" cy="1783080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238"/>
                </a:solidFill>
                <a:latin typeface="Aptos Display"/>
              </a:defRPr>
            </a:pPr>
            <a:r>
              <a:t>Texto → datos</a:t>
            </a:r>
            <a:br/>
            <a:r>
              <a:t>organizados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57276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238"/>
                </a:solidFill>
                <a:latin typeface="Aptos Display"/>
              </a:defRPr>
            </a:pPr>
            <a:r>
              <a:t>Puntos clave</a:t>
            </a:r>
          </a:p>
        </p:txBody>
      </p:sp>
      <p:sp>
        <p:nvSpPr>
          <p:cNvPr id="12" name="Oval 11"/>
          <p:cNvSpPr/>
          <p:nvPr/>
        </p:nvSpPr>
        <p:spPr>
          <a:xfrm>
            <a:off x="4096512" y="23134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2219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El sistema procesa el texto del contrato.</a:t>
            </a:r>
          </a:p>
        </p:txBody>
      </p:sp>
      <p:sp>
        <p:nvSpPr>
          <p:cNvPr id="14" name="Oval 13"/>
          <p:cNvSpPr/>
          <p:nvPr/>
        </p:nvSpPr>
        <p:spPr>
          <a:xfrm>
            <a:off x="4096512" y="3227832"/>
            <a:ext cx="164592" cy="164592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1363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Reconoce fechas, nombres, cantidades y conceptos.</a:t>
            </a:r>
          </a:p>
        </p:txBody>
      </p:sp>
      <p:sp>
        <p:nvSpPr>
          <p:cNvPr id="16" name="Oval 15"/>
          <p:cNvSpPr/>
          <p:nvPr/>
        </p:nvSpPr>
        <p:spPr>
          <a:xfrm>
            <a:off x="4096512" y="41422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40507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Después organiza la información para facilitar la revisión humana.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5806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88"/>
                </a:solidFill>
                <a:latin typeface="Aptos"/>
              </a:defRPr>
            </a:pPr>
            <a:r>
              <a:t>La tecnología apoya la revisión; no sustituye el criterio profesional.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57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297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2238"/>
                </a:solidFill>
                <a:latin typeface="Aptos Display"/>
              </a:defRPr>
            </a:pPr>
            <a:r>
              <a:t>IDENTIFICAR CLÁUSULAS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502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7888"/>
                </a:solidFill>
                <a:latin typeface="Aptos"/>
              </a:defRPr>
            </a:pPr>
            <a:r>
              <a:t>03/06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257C4"/>
                </a:solidFill>
                <a:latin typeface="Aptos"/>
              </a:defRPr>
            </a:pPr>
            <a:r>
              <a:t>CLÁUSULAS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331720"/>
            <a:ext cx="2240280" cy="420624"/>
          </a:xfrm>
          <a:prstGeom prst="roundRect">
            <a:avLst/>
          </a:prstGeom>
          <a:solidFill>
            <a:srgbClr val="E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4144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238"/>
                </a:solidFill>
                <a:latin typeface="Aptos"/>
              </a:defRPr>
            </a:pPr>
            <a:r>
              <a:t>Pago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935224"/>
            <a:ext cx="2240280" cy="420624"/>
          </a:xfrm>
          <a:prstGeom prst="roundRect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04495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238"/>
                </a:solidFill>
                <a:latin typeface="Aptos"/>
              </a:defRPr>
            </a:pPr>
            <a:r>
              <a:t>Fechas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538728"/>
            <a:ext cx="2240280" cy="420624"/>
          </a:xfrm>
          <a:prstGeom prst="roundRect">
            <a:avLst/>
          </a:prstGeom>
          <a:solidFill>
            <a:srgbClr val="E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238"/>
                </a:solidFill>
                <a:latin typeface="Aptos"/>
              </a:defRPr>
            </a:pPr>
            <a:r>
              <a:t>Confidencialidad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142231"/>
            <a:ext cx="2240280" cy="420624"/>
          </a:xfrm>
          <a:prstGeom prst="roundRect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25196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2238"/>
                </a:solidFill>
                <a:latin typeface="Aptos"/>
              </a:defRPr>
            </a:pPr>
            <a:r>
              <a:t>Terminación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57276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238"/>
                </a:solidFill>
                <a:latin typeface="Aptos Display"/>
              </a:defRPr>
            </a:pPr>
            <a:r>
              <a:t>Puntos clave</a:t>
            </a:r>
          </a:p>
        </p:txBody>
      </p:sp>
      <p:sp>
        <p:nvSpPr>
          <p:cNvPr id="18" name="Oval 17"/>
          <p:cNvSpPr/>
          <p:nvPr/>
        </p:nvSpPr>
        <p:spPr>
          <a:xfrm>
            <a:off x="4096512" y="23134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2219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Pago y montos</a:t>
            </a:r>
          </a:p>
        </p:txBody>
      </p:sp>
      <p:sp>
        <p:nvSpPr>
          <p:cNvPr id="20" name="Oval 19"/>
          <p:cNvSpPr/>
          <p:nvPr/>
        </p:nvSpPr>
        <p:spPr>
          <a:xfrm>
            <a:off x="4096512" y="3227832"/>
            <a:ext cx="164592" cy="164592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31363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Duración y fechas</a:t>
            </a:r>
          </a:p>
        </p:txBody>
      </p:sp>
      <p:sp>
        <p:nvSpPr>
          <p:cNvPr id="22" name="Oval 21"/>
          <p:cNvSpPr/>
          <p:nvPr/>
        </p:nvSpPr>
        <p:spPr>
          <a:xfrm>
            <a:off x="4096512" y="41422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40507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Confidencialidad</a:t>
            </a:r>
          </a:p>
        </p:txBody>
      </p:sp>
      <p:sp>
        <p:nvSpPr>
          <p:cNvPr id="24" name="Oval 23"/>
          <p:cNvSpPr/>
          <p:nvPr/>
        </p:nvSpPr>
        <p:spPr>
          <a:xfrm>
            <a:off x="4096512" y="5056632"/>
            <a:ext cx="164592" cy="164592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49651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Terminación y obligaciones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806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88"/>
                </a:solidFill>
                <a:latin typeface="Aptos"/>
              </a:defRPr>
            </a:pPr>
            <a:r>
              <a:t>La tecnología apoya la revisión; no sustituye el criterio profesional.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57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297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2238"/>
                </a:solidFill>
                <a:latin typeface="Aptos Display"/>
              </a:defRPr>
            </a:pPr>
            <a:r>
              <a:t>COMPARAR VERSIONES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502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7888"/>
                </a:solidFill>
                <a:latin typeface="Aptos"/>
              </a:defRPr>
            </a:pPr>
            <a:r>
              <a:t>04/06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257C4"/>
                </a:solidFill>
                <a:latin typeface="Aptos"/>
              </a:defRPr>
            </a:pPr>
            <a:r>
              <a:t>VERSIÓN A  / 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331720"/>
            <a:ext cx="960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1720" y="2331720"/>
            <a:ext cx="960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6152" y="2651760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96312" y="2651760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6152" y="3090672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96312" y="3090672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16152" y="3529584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96312" y="3529584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6152" y="3968496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96312" y="3968496"/>
            <a:ext cx="621792" cy="64008"/>
          </a:xfrm>
          <a:prstGeom prst="rect">
            <a:avLst/>
          </a:prstGeom>
          <a:solidFill>
            <a:srgbClr val="D7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14016" y="3931920"/>
            <a:ext cx="804672" cy="347472"/>
          </a:xfrm>
          <a:prstGeom prst="roundRect">
            <a:avLst/>
          </a:prstGeom>
          <a:solidFill>
            <a:srgbClr val="FDF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6312" y="4014215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7B64E"/>
                </a:solidFill>
                <a:latin typeface="Aptos"/>
              </a:defRPr>
            </a:pPr>
            <a:r>
              <a:t>CAMBIO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57276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238"/>
                </a:solidFill>
                <a:latin typeface="Aptos Display"/>
              </a:defRPr>
            </a:pPr>
            <a:r>
              <a:t>Puntos clave</a:t>
            </a:r>
          </a:p>
        </p:txBody>
      </p:sp>
      <p:sp>
        <p:nvSpPr>
          <p:cNvPr id="22" name="Oval 21"/>
          <p:cNvSpPr/>
          <p:nvPr/>
        </p:nvSpPr>
        <p:spPr>
          <a:xfrm>
            <a:off x="4096512" y="23134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22219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NLP puede contrastar dos versiones del mismo contrato.</a:t>
            </a:r>
          </a:p>
        </p:txBody>
      </p:sp>
      <p:sp>
        <p:nvSpPr>
          <p:cNvPr id="24" name="Oval 23"/>
          <p:cNvSpPr/>
          <p:nvPr/>
        </p:nvSpPr>
        <p:spPr>
          <a:xfrm>
            <a:off x="4096512" y="3227832"/>
            <a:ext cx="164592" cy="164592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31363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Marca frases agregadas, eliminadas o modificadas.</a:t>
            </a:r>
          </a:p>
        </p:txBody>
      </p:sp>
      <p:sp>
        <p:nvSpPr>
          <p:cNvPr id="26" name="Oval 25"/>
          <p:cNvSpPr/>
          <p:nvPr/>
        </p:nvSpPr>
        <p:spPr>
          <a:xfrm>
            <a:off x="4096512" y="41422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0507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Así, el abogado puede concentrarse en los cambios realmente importantes.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5806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88"/>
                </a:solidFill>
                <a:latin typeface="Aptos"/>
              </a:defRPr>
            </a:pPr>
            <a:r>
              <a:t>La tecnología apoya la revisión; no sustituye el criterio profesional.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57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297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2238"/>
                </a:solidFill>
                <a:latin typeface="Aptos Display"/>
              </a:defRPr>
            </a:pPr>
            <a:r>
              <a:t>SEÑALAR POSIBLES RIESGOS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502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7888"/>
                </a:solidFill>
                <a:latin typeface="Aptos"/>
              </a:defRPr>
            </a:pPr>
            <a:r>
              <a:t>05/06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B64E"/>
                </a:solidFill>
                <a:latin typeface="Aptos"/>
              </a:defRPr>
            </a:pPr>
            <a:r>
              <a:t>REVISIÓN</a:t>
            </a:r>
          </a:p>
        </p:txBody>
      </p:sp>
      <p:sp>
        <p:nvSpPr>
          <p:cNvPr id="9" name="Hexagon 8"/>
          <p:cNvSpPr/>
          <p:nvPr/>
        </p:nvSpPr>
        <p:spPr>
          <a:xfrm>
            <a:off x="1417320" y="2286000"/>
            <a:ext cx="1600200" cy="1600200"/>
          </a:xfrm>
          <a:prstGeom prst="hexagon">
            <a:avLst/>
          </a:prstGeom>
          <a:solidFill>
            <a:srgbClr val="FDF7E3"/>
          </a:solidFill>
          <a:ln>
            <a:solidFill>
              <a:srgbClr val="E7B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281635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B64E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51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238"/>
                </a:solidFill>
                <a:latin typeface="Aptos Display"/>
              </a:defRPr>
            </a:pPr>
            <a:r>
              <a:t>Revisar</a:t>
            </a:r>
            <a:br/>
            <a:r>
              <a:t>antes de decidir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57276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238"/>
                </a:solidFill>
                <a:latin typeface="Aptos Display"/>
              </a:defRPr>
            </a:pPr>
            <a:r>
              <a:t>Puntos clave</a:t>
            </a:r>
          </a:p>
        </p:txBody>
      </p:sp>
      <p:sp>
        <p:nvSpPr>
          <p:cNvPr id="13" name="Oval 12"/>
          <p:cNvSpPr/>
          <p:nvPr/>
        </p:nvSpPr>
        <p:spPr>
          <a:xfrm>
            <a:off x="4096512" y="23134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2219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Puede detectar datos faltantes.</a:t>
            </a:r>
          </a:p>
        </p:txBody>
      </p:sp>
      <p:sp>
        <p:nvSpPr>
          <p:cNvPr id="15" name="Oval 14"/>
          <p:cNvSpPr/>
          <p:nvPr/>
        </p:nvSpPr>
        <p:spPr>
          <a:xfrm>
            <a:off x="4096512" y="3227832"/>
            <a:ext cx="164592" cy="164592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31363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Puede localizar cláusulas que no siguen una plantilla.</a:t>
            </a:r>
          </a:p>
        </p:txBody>
      </p:sp>
      <p:sp>
        <p:nvSpPr>
          <p:cNvPr id="17" name="Oval 16"/>
          <p:cNvSpPr/>
          <p:nvPr/>
        </p:nvSpPr>
        <p:spPr>
          <a:xfrm>
            <a:off x="4096512" y="41422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40507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Los resultados se revisan y validan antes de tomar una decisión legal.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5806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88"/>
                </a:solidFill>
                <a:latin typeface="Aptos"/>
              </a:defRPr>
            </a:pPr>
            <a:r>
              <a:t>La tecnología apoya la revisión; no sustituye el criterio profesional.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02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257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297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2238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502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7888"/>
                </a:solidFill>
                <a:latin typeface="Aptos"/>
              </a:defRPr>
            </a:pPr>
            <a:r>
              <a:t>06/06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5AA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331720"/>
            <a:ext cx="2240280" cy="530352"/>
          </a:xfrm>
          <a:prstGeom prst="roundRect">
            <a:avLst/>
          </a:prstGeom>
          <a:solidFill>
            <a:srgbClr val="E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0B5AA"/>
                </a:solidFill>
                <a:latin typeface="Aptos"/>
              </a:defRPr>
            </a:pPr>
            <a:r>
              <a:t>Más rápido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090672"/>
            <a:ext cx="2240280" cy="530352"/>
          </a:xfrm>
          <a:prstGeom prst="roundRect">
            <a:avLst/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257C4"/>
                </a:solidFill>
                <a:latin typeface="Aptos"/>
              </a:defRPr>
            </a:pPr>
            <a:r>
              <a:t>Más ordenado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849624"/>
            <a:ext cx="2240280" cy="530352"/>
          </a:xfrm>
          <a:prstGeom prst="roundRect">
            <a:avLst/>
          </a:prstGeom>
          <a:solidFill>
            <a:srgbClr val="FDF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0507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B64E"/>
                </a:solidFill>
                <a:latin typeface="Aptos"/>
              </a:defRPr>
            </a:pPr>
            <a:r>
              <a:t>Con revisión humana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57276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2238"/>
                </a:solidFill>
                <a:latin typeface="Aptos Display"/>
              </a:defRPr>
            </a:pPr>
            <a:r>
              <a:t>Puntos clave</a:t>
            </a:r>
          </a:p>
        </p:txBody>
      </p:sp>
      <p:sp>
        <p:nvSpPr>
          <p:cNvPr id="16" name="Oval 15"/>
          <p:cNvSpPr/>
          <p:nvPr/>
        </p:nvSpPr>
        <p:spPr>
          <a:xfrm>
            <a:off x="4096512" y="23134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2219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NLP reduce tiempo de búsqueda y organización.</a:t>
            </a:r>
          </a:p>
        </p:txBody>
      </p:sp>
      <p:sp>
        <p:nvSpPr>
          <p:cNvPr id="18" name="Oval 17"/>
          <p:cNvSpPr/>
          <p:nvPr/>
        </p:nvSpPr>
        <p:spPr>
          <a:xfrm>
            <a:off x="4096512" y="3227832"/>
            <a:ext cx="164592" cy="164592"/>
          </a:xfrm>
          <a:prstGeom prst="ellipse">
            <a:avLst/>
          </a:prstGeom>
          <a:solidFill>
            <a:srgbClr val="72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1363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Facilita comparar contratos y encontrar información clave.</a:t>
            </a:r>
          </a:p>
        </p:txBody>
      </p:sp>
      <p:sp>
        <p:nvSpPr>
          <p:cNvPr id="20" name="Oval 19"/>
          <p:cNvSpPr/>
          <p:nvPr/>
        </p:nvSpPr>
        <p:spPr>
          <a:xfrm>
            <a:off x="4096512" y="4142232"/>
            <a:ext cx="164592" cy="164592"/>
          </a:xfrm>
          <a:prstGeom prst="ellipse">
            <a:avLst/>
          </a:prstGeom>
          <a:solidFill>
            <a:srgbClr val="30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4050792"/>
            <a:ext cx="6400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050"/>
                </a:solidFill>
                <a:latin typeface="Aptos Display"/>
              </a:defRPr>
            </a:pPr>
            <a:r>
              <a:t>Es una herramienta de apoyo: la decisión final sigue siendo humana.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806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88"/>
                </a:solidFill>
                <a:latin typeface="Aptos"/>
              </a:defRPr>
            </a:pPr>
            <a:r>
              <a:t>La tecnología apoya la revisión; no sustituye el criterio profesional.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